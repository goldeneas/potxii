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IdLst>
    <p:sldId id="256" r:id="rId2"/>
    <p:sldId id="257" r:id="rId3"/>
    <p:sldId id="261" r:id="rId4"/>
    <p:sldId id="260" r:id="rId5"/>
    <p:sldId id="265" r:id="rId6"/>
    <p:sldId id="263" r:id="rId7"/>
    <p:sldId id="264" r:id="rId8"/>
    <p:sldId id="259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3F21"/>
    <a:srgbClr val="E1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C32130-FE90-4796-A918-C20BD1736453}" v="8" dt="2026-01-28T11:25:10.516"/>
    <p1510:client id="{FA22C7F2-C4DB-476C-A55E-363AA47E3EDA}" v="111" dt="2026-01-28T10:46:35.9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2D76B9-B828-4F9D-B505-3EA4F7647C5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1429AB-020B-4D93-8BC3-022510772A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La dashboard rappresenta il centro di controllo operativo permette di visualizzare i dati in tempo reale provenienti dall'</a:t>
          </a:r>
          <a:r>
            <a:rPr lang="it-IT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ESP32</a:t>
          </a: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tramite l’utilizzo del protocollo </a:t>
          </a:r>
          <a:r>
            <a:rPr lang="it-IT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MQTT</a:t>
          </a: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.</a:t>
          </a:r>
          <a:endParaRPr lang="en-US" sz="14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02451ACC-59F1-430F-9A69-9B9D4CEFD897}" type="parTrans" cxnId="{0C6D256E-165A-4536-8CED-3F1CB23D7CF4}">
      <dgm:prSet/>
      <dgm:spPr/>
      <dgm:t>
        <a:bodyPr/>
        <a:lstStyle/>
        <a:p>
          <a:endParaRPr lang="en-US"/>
        </a:p>
      </dgm:t>
    </dgm:pt>
    <dgm:pt modelId="{A82EBE13-A8D0-4008-9F89-8561D19B5513}" type="sibTrans" cxnId="{0C6D256E-165A-4536-8CED-3F1CB23D7CF4}">
      <dgm:prSet/>
      <dgm:spPr/>
      <dgm:t>
        <a:bodyPr/>
        <a:lstStyle/>
        <a:p>
          <a:endParaRPr lang="en-US"/>
        </a:p>
      </dgm:t>
    </dgm:pt>
    <dgm:pt modelId="{18524617-342B-4DA5-9D2D-3B2903D595D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Visualizzazione immediata della temperatura e dell’umidità dell'aria, dell’umidità del suolo, dell’esposizione alla luce e del livello del serbatoio.</a:t>
          </a:r>
          <a:endParaRPr lang="en-US" sz="14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A7AAE6B4-6A46-4822-B52E-5DFF6A7C153E}" type="parTrans" cxnId="{02FDB45A-26E2-43AE-88DE-8A68B229EB73}">
      <dgm:prSet/>
      <dgm:spPr/>
      <dgm:t>
        <a:bodyPr/>
        <a:lstStyle/>
        <a:p>
          <a:endParaRPr lang="en-US"/>
        </a:p>
      </dgm:t>
    </dgm:pt>
    <dgm:pt modelId="{B6CB6A7B-3E3F-4F8F-9FB7-5B35A10D3072}" type="sibTrans" cxnId="{02FDB45A-26E2-43AE-88DE-8A68B229EB73}">
      <dgm:prSet/>
      <dgm:spPr/>
      <dgm:t>
        <a:bodyPr/>
        <a:lstStyle/>
        <a:p>
          <a:endParaRPr lang="en-US"/>
        </a:p>
      </dgm:t>
    </dgm:pt>
    <dgm:pt modelId="{B0896ECF-2032-434E-A56A-EFBF6B8AC174}" type="pres">
      <dgm:prSet presAssocID="{EC2D76B9-B828-4F9D-B505-3EA4F7647C5F}" presName="root" presStyleCnt="0">
        <dgm:presLayoutVars>
          <dgm:dir/>
          <dgm:resizeHandles val="exact"/>
        </dgm:presLayoutVars>
      </dgm:prSet>
      <dgm:spPr/>
    </dgm:pt>
    <dgm:pt modelId="{84495A40-AF00-4442-A359-EA98E43F832A}" type="pres">
      <dgm:prSet presAssocID="{B71429AB-020B-4D93-8BC3-022510772ABF}" presName="compNode" presStyleCnt="0"/>
      <dgm:spPr/>
    </dgm:pt>
    <dgm:pt modelId="{F4AB82AC-4794-4860-9A48-0C1639583FFE}" type="pres">
      <dgm:prSet presAssocID="{B71429AB-020B-4D93-8BC3-022510772ABF}" presName="bgRect" presStyleLbl="bgShp" presStyleIdx="0" presStyleCnt="2"/>
      <dgm:spPr>
        <a:solidFill>
          <a:srgbClr val="E1CDCC"/>
        </a:solidFill>
      </dgm:spPr>
    </dgm:pt>
    <dgm:pt modelId="{E7FBC0D2-F432-4C2A-A20E-C9C73726BE2D}" type="pres">
      <dgm:prSet presAssocID="{B71429AB-020B-4D93-8BC3-022510772AB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98CC71B-BD0D-4DD2-974E-31D728EF7EAB}" type="pres">
      <dgm:prSet presAssocID="{B71429AB-020B-4D93-8BC3-022510772ABF}" presName="spaceRect" presStyleCnt="0"/>
      <dgm:spPr/>
    </dgm:pt>
    <dgm:pt modelId="{14603F7D-B82A-4C2F-9228-69C1939DA55B}" type="pres">
      <dgm:prSet presAssocID="{B71429AB-020B-4D93-8BC3-022510772ABF}" presName="parTx" presStyleLbl="revTx" presStyleIdx="0" presStyleCnt="2">
        <dgm:presLayoutVars>
          <dgm:chMax val="0"/>
          <dgm:chPref val="0"/>
        </dgm:presLayoutVars>
      </dgm:prSet>
      <dgm:spPr/>
    </dgm:pt>
    <dgm:pt modelId="{57ED3216-9AC4-4170-9327-4D77C966D474}" type="pres">
      <dgm:prSet presAssocID="{A82EBE13-A8D0-4008-9F89-8561D19B5513}" presName="sibTrans" presStyleCnt="0"/>
      <dgm:spPr/>
    </dgm:pt>
    <dgm:pt modelId="{AA0DECA3-D2E7-49B0-84E7-D14E941277E9}" type="pres">
      <dgm:prSet presAssocID="{18524617-342B-4DA5-9D2D-3B2903D595D3}" presName="compNode" presStyleCnt="0"/>
      <dgm:spPr/>
    </dgm:pt>
    <dgm:pt modelId="{FFE23B07-7334-4075-9E54-421901344132}" type="pres">
      <dgm:prSet presAssocID="{18524617-342B-4DA5-9D2D-3B2903D595D3}" presName="bgRect" presStyleLbl="bgShp" presStyleIdx="1" presStyleCnt="2"/>
      <dgm:spPr/>
    </dgm:pt>
    <dgm:pt modelId="{A7E4C96C-DE24-4072-B764-E2A9EF3452A9}" type="pres">
      <dgm:prSet presAssocID="{18524617-342B-4DA5-9D2D-3B2903D595D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FB33DC54-058B-49AE-8717-0041415F3FE3}" type="pres">
      <dgm:prSet presAssocID="{18524617-342B-4DA5-9D2D-3B2903D595D3}" presName="spaceRect" presStyleCnt="0"/>
      <dgm:spPr/>
    </dgm:pt>
    <dgm:pt modelId="{44A3B483-E48B-451B-8931-5A5511B5C345}" type="pres">
      <dgm:prSet presAssocID="{18524617-342B-4DA5-9D2D-3B2903D595D3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C6D256E-165A-4536-8CED-3F1CB23D7CF4}" srcId="{EC2D76B9-B828-4F9D-B505-3EA4F7647C5F}" destId="{B71429AB-020B-4D93-8BC3-022510772ABF}" srcOrd="0" destOrd="0" parTransId="{02451ACC-59F1-430F-9A69-9B9D4CEFD897}" sibTransId="{A82EBE13-A8D0-4008-9F89-8561D19B5513}"/>
    <dgm:cxn modelId="{02FDB45A-26E2-43AE-88DE-8A68B229EB73}" srcId="{EC2D76B9-B828-4F9D-B505-3EA4F7647C5F}" destId="{18524617-342B-4DA5-9D2D-3B2903D595D3}" srcOrd="1" destOrd="0" parTransId="{A7AAE6B4-6A46-4822-B52E-5DFF6A7C153E}" sibTransId="{B6CB6A7B-3E3F-4F8F-9FB7-5B35A10D3072}"/>
    <dgm:cxn modelId="{C70517A6-EE38-4C57-B4A2-7E0CCB3FBABE}" type="presOf" srcId="{EC2D76B9-B828-4F9D-B505-3EA4F7647C5F}" destId="{B0896ECF-2032-434E-A56A-EFBF6B8AC174}" srcOrd="0" destOrd="0" presId="urn:microsoft.com/office/officeart/2018/2/layout/IconVerticalSolidList"/>
    <dgm:cxn modelId="{25D8CBAE-45A0-4953-8564-1CA71FAB72F4}" type="presOf" srcId="{18524617-342B-4DA5-9D2D-3B2903D595D3}" destId="{44A3B483-E48B-451B-8931-5A5511B5C345}" srcOrd="0" destOrd="0" presId="urn:microsoft.com/office/officeart/2018/2/layout/IconVerticalSolidList"/>
    <dgm:cxn modelId="{FB53FBB6-160D-4D14-AAF3-02707A3142FF}" type="presOf" srcId="{B71429AB-020B-4D93-8BC3-022510772ABF}" destId="{14603F7D-B82A-4C2F-9228-69C1939DA55B}" srcOrd="0" destOrd="0" presId="urn:microsoft.com/office/officeart/2018/2/layout/IconVerticalSolidList"/>
    <dgm:cxn modelId="{D9CF4914-73F0-4C5F-8917-7083115A0F72}" type="presParOf" srcId="{B0896ECF-2032-434E-A56A-EFBF6B8AC174}" destId="{84495A40-AF00-4442-A359-EA98E43F832A}" srcOrd="0" destOrd="0" presId="urn:microsoft.com/office/officeart/2018/2/layout/IconVerticalSolidList"/>
    <dgm:cxn modelId="{3FF2392A-0455-448C-8127-EBD1006888D3}" type="presParOf" srcId="{84495A40-AF00-4442-A359-EA98E43F832A}" destId="{F4AB82AC-4794-4860-9A48-0C1639583FFE}" srcOrd="0" destOrd="0" presId="urn:microsoft.com/office/officeart/2018/2/layout/IconVerticalSolidList"/>
    <dgm:cxn modelId="{D21E5FEF-1B2B-4017-9B76-0FE6E558B360}" type="presParOf" srcId="{84495A40-AF00-4442-A359-EA98E43F832A}" destId="{E7FBC0D2-F432-4C2A-A20E-C9C73726BE2D}" srcOrd="1" destOrd="0" presId="urn:microsoft.com/office/officeart/2018/2/layout/IconVerticalSolidList"/>
    <dgm:cxn modelId="{493D833C-E5FB-48BB-9A7C-F2662456F46E}" type="presParOf" srcId="{84495A40-AF00-4442-A359-EA98E43F832A}" destId="{598CC71B-BD0D-4DD2-974E-31D728EF7EAB}" srcOrd="2" destOrd="0" presId="urn:microsoft.com/office/officeart/2018/2/layout/IconVerticalSolidList"/>
    <dgm:cxn modelId="{67C03471-70DB-446B-A0B5-19A0A9364784}" type="presParOf" srcId="{84495A40-AF00-4442-A359-EA98E43F832A}" destId="{14603F7D-B82A-4C2F-9228-69C1939DA55B}" srcOrd="3" destOrd="0" presId="urn:microsoft.com/office/officeart/2018/2/layout/IconVerticalSolidList"/>
    <dgm:cxn modelId="{EDFE722C-8F9B-46D7-A4A8-66D789F1B2BB}" type="presParOf" srcId="{B0896ECF-2032-434E-A56A-EFBF6B8AC174}" destId="{57ED3216-9AC4-4170-9327-4D77C966D474}" srcOrd="1" destOrd="0" presId="urn:microsoft.com/office/officeart/2018/2/layout/IconVerticalSolidList"/>
    <dgm:cxn modelId="{C01D9D4C-87A5-4262-92BC-F95B3EA2A8C6}" type="presParOf" srcId="{B0896ECF-2032-434E-A56A-EFBF6B8AC174}" destId="{AA0DECA3-D2E7-49B0-84E7-D14E941277E9}" srcOrd="2" destOrd="0" presId="urn:microsoft.com/office/officeart/2018/2/layout/IconVerticalSolidList"/>
    <dgm:cxn modelId="{DA943B9B-3A7C-43D0-A64F-3CDC45CE01A4}" type="presParOf" srcId="{AA0DECA3-D2E7-49B0-84E7-D14E941277E9}" destId="{FFE23B07-7334-4075-9E54-421901344132}" srcOrd="0" destOrd="0" presId="urn:microsoft.com/office/officeart/2018/2/layout/IconVerticalSolidList"/>
    <dgm:cxn modelId="{8C42B91D-3BB3-44BD-8498-584FFCA1E9A4}" type="presParOf" srcId="{AA0DECA3-D2E7-49B0-84E7-D14E941277E9}" destId="{A7E4C96C-DE24-4072-B764-E2A9EF3452A9}" srcOrd="1" destOrd="0" presId="urn:microsoft.com/office/officeart/2018/2/layout/IconVerticalSolidList"/>
    <dgm:cxn modelId="{967A4F3C-4A88-4182-AD03-CBC756771EE3}" type="presParOf" srcId="{AA0DECA3-D2E7-49B0-84E7-D14E941277E9}" destId="{FB33DC54-058B-49AE-8717-0041415F3FE3}" srcOrd="2" destOrd="0" presId="urn:microsoft.com/office/officeart/2018/2/layout/IconVerticalSolidList"/>
    <dgm:cxn modelId="{77C1292A-DE62-4028-904C-F78107C59995}" type="presParOf" srcId="{AA0DECA3-D2E7-49B0-84E7-D14E941277E9}" destId="{44A3B483-E48B-451B-8931-5A5511B5C34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344D79-EA94-4099-B4FC-9066F397CA51}" type="doc">
      <dgm:prSet loTypeId="urn:microsoft.com/office/officeart/2005/8/layout/vList4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5D30706-8AE3-4EF8-A8B1-B3784632ABD1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grafici;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diagrammi dedicati ad ogni grandezza fisica misurata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D4AD657A-A2D0-46DE-AB33-D5AEE640A197}" type="parTrans" cxnId="{89848F65-D4E9-4286-818F-7040E9EBF4D9}">
      <dgm:prSet/>
      <dgm:spPr/>
      <dgm:t>
        <a:bodyPr/>
        <a:lstStyle/>
        <a:p>
          <a:endParaRPr lang="en-US"/>
        </a:p>
      </dgm:t>
    </dgm:pt>
    <dgm:pt modelId="{B7C34C44-017B-462C-BA34-DC6B01E8BFA8}" type="sibTrans" cxnId="{89848F65-D4E9-4286-818F-7040E9EBF4D9}">
      <dgm:prSet/>
      <dgm:spPr/>
      <dgm:t>
        <a:bodyPr/>
        <a:lstStyle/>
        <a:p>
          <a:endParaRPr lang="en-US"/>
        </a:p>
      </dgm:t>
    </dgm:pt>
    <dgm:pt modelId="{0D499B8D-B798-427A-B711-EE567BEA0F11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Gestire il serbatoio;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prevedere quando bisogna riempire il serbatoio, attivare manualmente la pompa o impostare una soglia d’umidità per l’irrigazione automatica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D2FBF2D6-5C28-4797-AA10-87F1230C6DFD}" type="parTrans" cxnId="{C2E01813-A603-4464-8067-BDB326802D5E}">
      <dgm:prSet/>
      <dgm:spPr/>
      <dgm:t>
        <a:bodyPr/>
        <a:lstStyle/>
        <a:p>
          <a:endParaRPr lang="en-US"/>
        </a:p>
      </dgm:t>
    </dgm:pt>
    <dgm:pt modelId="{938B47FC-9702-45FA-B8B2-1AF7A269E222}" type="sibTrans" cxnId="{C2E01813-A603-4464-8067-BDB326802D5E}">
      <dgm:prSet/>
      <dgm:spPr/>
      <dgm:t>
        <a:bodyPr/>
        <a:lstStyle/>
        <a:p>
          <a:endParaRPr lang="en-US"/>
        </a:p>
      </dgm:t>
    </dgm:pt>
    <dgm:pt modelId="{76441A8B-1598-4966-8CE3-ACAC4BA06192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log;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registro per tracciare eventi particolare (attivazione pompa o livello d’acqua nel serbatoio)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AB50407C-BDCC-4448-BE5D-AD52F8E71068}" type="parTrans" cxnId="{79494437-1029-4C45-B283-0543DFD9A255}">
      <dgm:prSet/>
      <dgm:spPr/>
      <dgm:t>
        <a:bodyPr/>
        <a:lstStyle/>
        <a:p>
          <a:endParaRPr lang="en-US"/>
        </a:p>
      </dgm:t>
    </dgm:pt>
    <dgm:pt modelId="{324D7EED-7619-4D36-B78A-A8219DC08978}" type="sibTrans" cxnId="{79494437-1029-4C45-B283-0543DFD9A255}">
      <dgm:prSet/>
      <dgm:spPr/>
      <dgm:t>
        <a:bodyPr/>
        <a:lstStyle/>
        <a:p>
          <a:endParaRPr lang="en-US"/>
        </a:p>
      </dgm:t>
    </dgm:pt>
    <dgm:pt modelId="{C772160D-63C8-4B73-AF31-66F4338EB14A}">
      <dgm:prSet custT="1"/>
      <dgm:spPr>
        <a:solidFill>
          <a:srgbClr val="E1CDCC"/>
        </a:solidFill>
        <a:ln>
          <a:solidFill>
            <a:schemeClr val="bg1"/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Compensare la scarsa luce naturale (simulazione);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slider per regolare l'intensità dei LED tramite PWM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136ED2BE-4538-439D-B25E-043E0968B996}" type="parTrans" cxnId="{C360BBA2-97E9-4DC3-B577-2404580A0C56}">
      <dgm:prSet/>
      <dgm:spPr/>
      <dgm:t>
        <a:bodyPr/>
        <a:lstStyle/>
        <a:p>
          <a:endParaRPr lang="en-US"/>
        </a:p>
      </dgm:t>
    </dgm:pt>
    <dgm:pt modelId="{E4C8BEE7-3D4F-4DA3-B65A-010299D14482}" type="sibTrans" cxnId="{C360BBA2-97E9-4DC3-B577-2404580A0C56}">
      <dgm:prSet/>
      <dgm:spPr/>
      <dgm:t>
        <a:bodyPr/>
        <a:lstStyle/>
        <a:p>
          <a:endParaRPr lang="en-US"/>
        </a:p>
      </dgm:t>
    </dgm:pt>
    <dgm:pt modelId="{57EAEFA3-9A78-4563-8883-8A99CCEA555B}" type="pres">
      <dgm:prSet presAssocID="{1B344D79-EA94-4099-B4FC-9066F397CA51}" presName="linear" presStyleCnt="0">
        <dgm:presLayoutVars>
          <dgm:dir/>
          <dgm:resizeHandles val="exact"/>
        </dgm:presLayoutVars>
      </dgm:prSet>
      <dgm:spPr/>
    </dgm:pt>
    <dgm:pt modelId="{BD39AA4C-3DAD-4BEE-A902-1327E92A479A}" type="pres">
      <dgm:prSet presAssocID="{D5D30706-8AE3-4EF8-A8B1-B3784632ABD1}" presName="comp" presStyleCnt="0"/>
      <dgm:spPr/>
    </dgm:pt>
    <dgm:pt modelId="{D1F8A8DA-E6B3-44B7-BCF9-740032E19EA4}" type="pres">
      <dgm:prSet presAssocID="{D5D30706-8AE3-4EF8-A8B1-B3784632ABD1}" presName="box" presStyleLbl="node1" presStyleIdx="0" presStyleCnt="4"/>
      <dgm:spPr/>
    </dgm:pt>
    <dgm:pt modelId="{3DE139AE-A735-4405-BBB3-A56ABF7F9E4D}" type="pres">
      <dgm:prSet presAssocID="{D5D30706-8AE3-4EF8-A8B1-B3784632ABD1}" presName="img" presStyleLbl="fgImgPlace1" presStyleIdx="0" presStyleCnt="4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Grafico periodico con riempimento a tinta unita"/>
        </a:ext>
      </dgm:extLst>
    </dgm:pt>
    <dgm:pt modelId="{023F78EA-78B1-4863-81A5-A06CBD71EF85}" type="pres">
      <dgm:prSet presAssocID="{D5D30706-8AE3-4EF8-A8B1-B3784632ABD1}" presName="text" presStyleLbl="node1" presStyleIdx="0" presStyleCnt="4">
        <dgm:presLayoutVars>
          <dgm:bulletEnabled val="1"/>
        </dgm:presLayoutVars>
      </dgm:prSet>
      <dgm:spPr/>
    </dgm:pt>
    <dgm:pt modelId="{442DF137-6A96-4CE8-BBD9-F1E0508E050B}" type="pres">
      <dgm:prSet presAssocID="{B7C34C44-017B-462C-BA34-DC6B01E8BFA8}" presName="spacer" presStyleCnt="0"/>
      <dgm:spPr/>
    </dgm:pt>
    <dgm:pt modelId="{DEA770DB-DE78-4EF4-8F9D-95C7C927D77E}" type="pres">
      <dgm:prSet presAssocID="{0D499B8D-B798-427A-B711-EE567BEA0F11}" presName="comp" presStyleCnt="0"/>
      <dgm:spPr/>
    </dgm:pt>
    <dgm:pt modelId="{238F3088-DBE3-4D78-B47D-C210D72A52C4}" type="pres">
      <dgm:prSet presAssocID="{0D499B8D-B798-427A-B711-EE567BEA0F11}" presName="box" presStyleLbl="node1" presStyleIdx="1" presStyleCnt="4"/>
      <dgm:spPr/>
    </dgm:pt>
    <dgm:pt modelId="{24D61AD3-4618-4A23-90EF-37F94C4F0D3F}" type="pres">
      <dgm:prSet presAssocID="{0D499B8D-B798-427A-B711-EE567BEA0F11}" presName="img" presStyleLbl="f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Acqua con riempimento a tinta unita"/>
        </a:ext>
      </dgm:extLst>
    </dgm:pt>
    <dgm:pt modelId="{931B137E-84F2-43D7-B975-0127ED11C318}" type="pres">
      <dgm:prSet presAssocID="{0D499B8D-B798-427A-B711-EE567BEA0F11}" presName="text" presStyleLbl="node1" presStyleIdx="1" presStyleCnt="4">
        <dgm:presLayoutVars>
          <dgm:bulletEnabled val="1"/>
        </dgm:presLayoutVars>
      </dgm:prSet>
      <dgm:spPr/>
    </dgm:pt>
    <dgm:pt modelId="{DFFC18AA-C7C8-4C18-9AC5-0A7A46532549}" type="pres">
      <dgm:prSet presAssocID="{938B47FC-9702-45FA-B8B2-1AF7A269E222}" presName="spacer" presStyleCnt="0"/>
      <dgm:spPr/>
    </dgm:pt>
    <dgm:pt modelId="{84F2353F-3423-4563-B47A-7C387C386805}" type="pres">
      <dgm:prSet presAssocID="{76441A8B-1598-4966-8CE3-ACAC4BA06192}" presName="comp" presStyleCnt="0"/>
      <dgm:spPr/>
    </dgm:pt>
    <dgm:pt modelId="{9CABC94D-2B6F-433D-8B97-0156500069BB}" type="pres">
      <dgm:prSet presAssocID="{76441A8B-1598-4966-8CE3-ACAC4BA06192}" presName="box" presStyleLbl="node1" presStyleIdx="2" presStyleCnt="4"/>
      <dgm:spPr/>
    </dgm:pt>
    <dgm:pt modelId="{2854F6A4-3AF4-499F-876F-4225964D6DF8}" type="pres">
      <dgm:prSet presAssocID="{76441A8B-1598-4966-8CE3-ACAC4BA06192}" presName="img" presStyleLbl="f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Singolo ingranaggio con riempimento a tinta unita"/>
        </a:ext>
      </dgm:extLst>
    </dgm:pt>
    <dgm:pt modelId="{685ABD1D-F6E1-4245-9A1E-357944743B77}" type="pres">
      <dgm:prSet presAssocID="{76441A8B-1598-4966-8CE3-ACAC4BA06192}" presName="text" presStyleLbl="node1" presStyleIdx="2" presStyleCnt="4">
        <dgm:presLayoutVars>
          <dgm:bulletEnabled val="1"/>
        </dgm:presLayoutVars>
      </dgm:prSet>
      <dgm:spPr/>
    </dgm:pt>
    <dgm:pt modelId="{7DCFFD7E-69D2-42EC-8F3D-3ABE09A180B1}" type="pres">
      <dgm:prSet presAssocID="{324D7EED-7619-4D36-B78A-A8219DC08978}" presName="spacer" presStyleCnt="0"/>
      <dgm:spPr/>
    </dgm:pt>
    <dgm:pt modelId="{036BEE34-EC30-4A68-9BC2-F1CB941C2A54}" type="pres">
      <dgm:prSet presAssocID="{C772160D-63C8-4B73-AF31-66F4338EB14A}" presName="comp" presStyleCnt="0"/>
      <dgm:spPr/>
    </dgm:pt>
    <dgm:pt modelId="{E79D8460-3363-4BD9-A81B-7C866D2274F0}" type="pres">
      <dgm:prSet presAssocID="{C772160D-63C8-4B73-AF31-66F4338EB14A}" presName="box" presStyleLbl="node1" presStyleIdx="3" presStyleCnt="4"/>
      <dgm:spPr/>
    </dgm:pt>
    <dgm:pt modelId="{30AFAC39-CB23-4D07-8DCF-8A0D67CF9D09}" type="pres">
      <dgm:prSet presAssocID="{C772160D-63C8-4B73-AF31-66F4338EB14A}" presName="img" presStyleLbl="f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Luci accese con riempimento a tinta unita"/>
        </a:ext>
      </dgm:extLst>
    </dgm:pt>
    <dgm:pt modelId="{8ECB5674-D25C-4C8D-93BF-45FD7A2FFE0F}" type="pres">
      <dgm:prSet presAssocID="{C772160D-63C8-4B73-AF31-66F4338EB14A}" presName="text" presStyleLbl="node1" presStyleIdx="3" presStyleCnt="4">
        <dgm:presLayoutVars>
          <dgm:bulletEnabled val="1"/>
        </dgm:presLayoutVars>
      </dgm:prSet>
      <dgm:spPr/>
    </dgm:pt>
  </dgm:ptLst>
  <dgm:cxnLst>
    <dgm:cxn modelId="{C2E01813-A603-4464-8067-BDB326802D5E}" srcId="{1B344D79-EA94-4099-B4FC-9066F397CA51}" destId="{0D499B8D-B798-427A-B711-EE567BEA0F11}" srcOrd="1" destOrd="0" parTransId="{D2FBF2D6-5C28-4797-AA10-87F1230C6DFD}" sibTransId="{938B47FC-9702-45FA-B8B2-1AF7A269E222}"/>
    <dgm:cxn modelId="{79494437-1029-4C45-B283-0543DFD9A255}" srcId="{1B344D79-EA94-4099-B4FC-9066F397CA51}" destId="{76441A8B-1598-4966-8CE3-ACAC4BA06192}" srcOrd="2" destOrd="0" parTransId="{AB50407C-BDCC-4448-BE5D-AD52F8E71068}" sibTransId="{324D7EED-7619-4D36-B78A-A8219DC08978}"/>
    <dgm:cxn modelId="{A993AA3D-C25C-4174-8DEA-89601FB2C5B5}" type="presOf" srcId="{0D499B8D-B798-427A-B711-EE567BEA0F11}" destId="{238F3088-DBE3-4D78-B47D-C210D72A52C4}" srcOrd="0" destOrd="0" presId="urn:microsoft.com/office/officeart/2005/8/layout/vList4"/>
    <dgm:cxn modelId="{F096BD63-1221-4EC2-8FD6-9B8FAD89CFFD}" type="presOf" srcId="{C772160D-63C8-4B73-AF31-66F4338EB14A}" destId="{E79D8460-3363-4BD9-A81B-7C866D2274F0}" srcOrd="0" destOrd="0" presId="urn:microsoft.com/office/officeart/2005/8/layout/vList4"/>
    <dgm:cxn modelId="{89848F65-D4E9-4286-818F-7040E9EBF4D9}" srcId="{1B344D79-EA94-4099-B4FC-9066F397CA51}" destId="{D5D30706-8AE3-4EF8-A8B1-B3784632ABD1}" srcOrd="0" destOrd="0" parTransId="{D4AD657A-A2D0-46DE-AB33-D5AEE640A197}" sibTransId="{B7C34C44-017B-462C-BA34-DC6B01E8BFA8}"/>
    <dgm:cxn modelId="{79360B67-3F55-401A-84B4-F5E46E873576}" type="presOf" srcId="{1B344D79-EA94-4099-B4FC-9066F397CA51}" destId="{57EAEFA3-9A78-4563-8883-8A99CCEA555B}" srcOrd="0" destOrd="0" presId="urn:microsoft.com/office/officeart/2005/8/layout/vList4"/>
    <dgm:cxn modelId="{E69EE047-C31A-458D-9AC4-F7CB47B3DD7D}" type="presOf" srcId="{76441A8B-1598-4966-8CE3-ACAC4BA06192}" destId="{685ABD1D-F6E1-4245-9A1E-357944743B77}" srcOrd="1" destOrd="0" presId="urn:microsoft.com/office/officeart/2005/8/layout/vList4"/>
    <dgm:cxn modelId="{73C01683-4DD7-4006-8002-FF70171E3540}" type="presOf" srcId="{C772160D-63C8-4B73-AF31-66F4338EB14A}" destId="{8ECB5674-D25C-4C8D-93BF-45FD7A2FFE0F}" srcOrd="1" destOrd="0" presId="urn:microsoft.com/office/officeart/2005/8/layout/vList4"/>
    <dgm:cxn modelId="{E8F95287-C6F1-48E0-B1FA-5F436FABD35C}" type="presOf" srcId="{76441A8B-1598-4966-8CE3-ACAC4BA06192}" destId="{9CABC94D-2B6F-433D-8B97-0156500069BB}" srcOrd="0" destOrd="0" presId="urn:microsoft.com/office/officeart/2005/8/layout/vList4"/>
    <dgm:cxn modelId="{C360BBA2-97E9-4DC3-B577-2404580A0C56}" srcId="{1B344D79-EA94-4099-B4FC-9066F397CA51}" destId="{C772160D-63C8-4B73-AF31-66F4338EB14A}" srcOrd="3" destOrd="0" parTransId="{136ED2BE-4538-439D-B25E-043E0968B996}" sibTransId="{E4C8BEE7-3D4F-4DA3-B65A-010299D14482}"/>
    <dgm:cxn modelId="{4A4F00A8-F9C9-4AD3-A400-53558CA90EB5}" type="presOf" srcId="{D5D30706-8AE3-4EF8-A8B1-B3784632ABD1}" destId="{D1F8A8DA-E6B3-44B7-BCF9-740032E19EA4}" srcOrd="0" destOrd="0" presId="urn:microsoft.com/office/officeart/2005/8/layout/vList4"/>
    <dgm:cxn modelId="{E48451BC-6E27-458E-94BE-1709359A5F6E}" type="presOf" srcId="{D5D30706-8AE3-4EF8-A8B1-B3784632ABD1}" destId="{023F78EA-78B1-4863-81A5-A06CBD71EF85}" srcOrd="1" destOrd="0" presId="urn:microsoft.com/office/officeart/2005/8/layout/vList4"/>
    <dgm:cxn modelId="{E2F8AAEF-03F3-456A-B89F-75EFAA899215}" type="presOf" srcId="{0D499B8D-B798-427A-B711-EE567BEA0F11}" destId="{931B137E-84F2-43D7-B975-0127ED11C318}" srcOrd="1" destOrd="0" presId="urn:microsoft.com/office/officeart/2005/8/layout/vList4"/>
    <dgm:cxn modelId="{7D1B36B6-85FB-4A52-BC72-5D3B35A48CBE}" type="presParOf" srcId="{57EAEFA3-9A78-4563-8883-8A99CCEA555B}" destId="{BD39AA4C-3DAD-4BEE-A902-1327E92A479A}" srcOrd="0" destOrd="0" presId="urn:microsoft.com/office/officeart/2005/8/layout/vList4"/>
    <dgm:cxn modelId="{5AFB457E-59CD-4111-9A7C-022B7C52E928}" type="presParOf" srcId="{BD39AA4C-3DAD-4BEE-A902-1327E92A479A}" destId="{D1F8A8DA-E6B3-44B7-BCF9-740032E19EA4}" srcOrd="0" destOrd="0" presId="urn:microsoft.com/office/officeart/2005/8/layout/vList4"/>
    <dgm:cxn modelId="{13074915-CE78-45D4-A1D1-98AC4AB5C1A8}" type="presParOf" srcId="{BD39AA4C-3DAD-4BEE-A902-1327E92A479A}" destId="{3DE139AE-A735-4405-BBB3-A56ABF7F9E4D}" srcOrd="1" destOrd="0" presId="urn:microsoft.com/office/officeart/2005/8/layout/vList4"/>
    <dgm:cxn modelId="{17709B0F-98C9-4736-8A0C-517EDDCE09B6}" type="presParOf" srcId="{BD39AA4C-3DAD-4BEE-A902-1327E92A479A}" destId="{023F78EA-78B1-4863-81A5-A06CBD71EF85}" srcOrd="2" destOrd="0" presId="urn:microsoft.com/office/officeart/2005/8/layout/vList4"/>
    <dgm:cxn modelId="{D6C113E7-C689-4320-AFD0-5467DBEC602B}" type="presParOf" srcId="{57EAEFA3-9A78-4563-8883-8A99CCEA555B}" destId="{442DF137-6A96-4CE8-BBD9-F1E0508E050B}" srcOrd="1" destOrd="0" presId="urn:microsoft.com/office/officeart/2005/8/layout/vList4"/>
    <dgm:cxn modelId="{4136D2EB-A2DE-4872-955C-7F608E8218C5}" type="presParOf" srcId="{57EAEFA3-9A78-4563-8883-8A99CCEA555B}" destId="{DEA770DB-DE78-4EF4-8F9D-95C7C927D77E}" srcOrd="2" destOrd="0" presId="urn:microsoft.com/office/officeart/2005/8/layout/vList4"/>
    <dgm:cxn modelId="{D64BD1E6-83CD-4FDA-B304-E09BAA32557B}" type="presParOf" srcId="{DEA770DB-DE78-4EF4-8F9D-95C7C927D77E}" destId="{238F3088-DBE3-4D78-B47D-C210D72A52C4}" srcOrd="0" destOrd="0" presId="urn:microsoft.com/office/officeart/2005/8/layout/vList4"/>
    <dgm:cxn modelId="{2DDBAB2C-CF05-4C40-BF87-ED44330BADA8}" type="presParOf" srcId="{DEA770DB-DE78-4EF4-8F9D-95C7C927D77E}" destId="{24D61AD3-4618-4A23-90EF-37F94C4F0D3F}" srcOrd="1" destOrd="0" presId="urn:microsoft.com/office/officeart/2005/8/layout/vList4"/>
    <dgm:cxn modelId="{AF9995F7-4791-4F8F-A657-A7259199788F}" type="presParOf" srcId="{DEA770DB-DE78-4EF4-8F9D-95C7C927D77E}" destId="{931B137E-84F2-43D7-B975-0127ED11C318}" srcOrd="2" destOrd="0" presId="urn:microsoft.com/office/officeart/2005/8/layout/vList4"/>
    <dgm:cxn modelId="{E1BE6974-A766-4A02-A998-0DC2BAEC71A0}" type="presParOf" srcId="{57EAEFA3-9A78-4563-8883-8A99CCEA555B}" destId="{DFFC18AA-C7C8-4C18-9AC5-0A7A46532549}" srcOrd="3" destOrd="0" presId="urn:microsoft.com/office/officeart/2005/8/layout/vList4"/>
    <dgm:cxn modelId="{6AEE0263-3C3A-45F4-9462-4AF491458862}" type="presParOf" srcId="{57EAEFA3-9A78-4563-8883-8A99CCEA555B}" destId="{84F2353F-3423-4563-B47A-7C387C386805}" srcOrd="4" destOrd="0" presId="urn:microsoft.com/office/officeart/2005/8/layout/vList4"/>
    <dgm:cxn modelId="{6C31225C-94CC-4FCF-AE39-0627202197EC}" type="presParOf" srcId="{84F2353F-3423-4563-B47A-7C387C386805}" destId="{9CABC94D-2B6F-433D-8B97-0156500069BB}" srcOrd="0" destOrd="0" presId="urn:microsoft.com/office/officeart/2005/8/layout/vList4"/>
    <dgm:cxn modelId="{7FC8B494-6165-4DC6-BB92-4DC7E6B9F2DE}" type="presParOf" srcId="{84F2353F-3423-4563-B47A-7C387C386805}" destId="{2854F6A4-3AF4-499F-876F-4225964D6DF8}" srcOrd="1" destOrd="0" presId="urn:microsoft.com/office/officeart/2005/8/layout/vList4"/>
    <dgm:cxn modelId="{FEE65B55-9E0A-4C4C-AF9B-647585654913}" type="presParOf" srcId="{84F2353F-3423-4563-B47A-7C387C386805}" destId="{685ABD1D-F6E1-4245-9A1E-357944743B77}" srcOrd="2" destOrd="0" presId="urn:microsoft.com/office/officeart/2005/8/layout/vList4"/>
    <dgm:cxn modelId="{E7E67507-B8FB-4D6F-AF42-8DF037FD4B88}" type="presParOf" srcId="{57EAEFA3-9A78-4563-8883-8A99CCEA555B}" destId="{7DCFFD7E-69D2-42EC-8F3D-3ABE09A180B1}" srcOrd="5" destOrd="0" presId="urn:microsoft.com/office/officeart/2005/8/layout/vList4"/>
    <dgm:cxn modelId="{DE7A9A2B-3DF1-400C-93C8-ABA7DEF52B4A}" type="presParOf" srcId="{57EAEFA3-9A78-4563-8883-8A99CCEA555B}" destId="{036BEE34-EC30-4A68-9BC2-F1CB941C2A54}" srcOrd="6" destOrd="0" presId="urn:microsoft.com/office/officeart/2005/8/layout/vList4"/>
    <dgm:cxn modelId="{F3FCDD2B-7BEC-4EAD-B71D-B478C8C5ECCA}" type="presParOf" srcId="{036BEE34-EC30-4A68-9BC2-F1CB941C2A54}" destId="{E79D8460-3363-4BD9-A81B-7C866D2274F0}" srcOrd="0" destOrd="0" presId="urn:microsoft.com/office/officeart/2005/8/layout/vList4"/>
    <dgm:cxn modelId="{DAFAF09D-FC18-4D9E-99DF-89516092AFD2}" type="presParOf" srcId="{036BEE34-EC30-4A68-9BC2-F1CB941C2A54}" destId="{30AFAC39-CB23-4D07-8DCF-8A0D67CF9D09}" srcOrd="1" destOrd="0" presId="urn:microsoft.com/office/officeart/2005/8/layout/vList4"/>
    <dgm:cxn modelId="{6987C9A8-18BB-4CCB-8FA5-A96D949AC3B1}" type="presParOf" srcId="{036BEE34-EC30-4A68-9BC2-F1CB941C2A54}" destId="{8ECB5674-D25C-4C8D-93BF-45FD7A2FFE0F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AB82AC-4794-4860-9A48-0C1639583FFE}">
      <dsp:nvSpPr>
        <dsp:cNvPr id="0" name=""/>
        <dsp:cNvSpPr/>
      </dsp:nvSpPr>
      <dsp:spPr>
        <a:xfrm>
          <a:off x="0" y="692785"/>
          <a:ext cx="4423629" cy="1399709"/>
        </a:xfrm>
        <a:prstGeom prst="roundRect">
          <a:avLst>
            <a:gd name="adj" fmla="val 10000"/>
          </a:avLst>
        </a:prstGeom>
        <a:solidFill>
          <a:srgbClr val="E1CDCC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FBC0D2-F432-4C2A-A20E-C9C73726BE2D}">
      <dsp:nvSpPr>
        <dsp:cNvPr id="0" name=""/>
        <dsp:cNvSpPr/>
      </dsp:nvSpPr>
      <dsp:spPr>
        <a:xfrm>
          <a:off x="423412" y="1007720"/>
          <a:ext cx="769840" cy="7698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603F7D-B82A-4C2F-9228-69C1939DA55B}">
      <dsp:nvSpPr>
        <dsp:cNvPr id="0" name=""/>
        <dsp:cNvSpPr/>
      </dsp:nvSpPr>
      <dsp:spPr>
        <a:xfrm>
          <a:off x="1616664" y="692785"/>
          <a:ext cx="2806964" cy="1399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36" tIns="148136" rIns="148136" bIns="1481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La dashboard rappresenta il centro di controllo operativo permette di visualizzare i dati in tempo reale provenienti dall'</a:t>
          </a:r>
          <a:r>
            <a:rPr lang="it-IT" sz="14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ESP32</a:t>
          </a: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tramite l’utilizzo del protocollo </a:t>
          </a:r>
          <a:r>
            <a:rPr lang="it-IT" sz="14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MQTT</a:t>
          </a: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.</a:t>
          </a:r>
          <a:endParaRPr lang="en-US" sz="14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616664" y="692785"/>
        <a:ext cx="2806964" cy="1399709"/>
      </dsp:txXfrm>
    </dsp:sp>
    <dsp:sp modelId="{FFE23B07-7334-4075-9E54-421901344132}">
      <dsp:nvSpPr>
        <dsp:cNvPr id="0" name=""/>
        <dsp:cNvSpPr/>
      </dsp:nvSpPr>
      <dsp:spPr>
        <a:xfrm>
          <a:off x="0" y="2431819"/>
          <a:ext cx="4423629" cy="13997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E4C96C-DE24-4072-B764-E2A9EF3452A9}">
      <dsp:nvSpPr>
        <dsp:cNvPr id="0" name=""/>
        <dsp:cNvSpPr/>
      </dsp:nvSpPr>
      <dsp:spPr>
        <a:xfrm>
          <a:off x="423412" y="2746754"/>
          <a:ext cx="769840" cy="7698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3B483-E48B-451B-8931-5A5511B5C345}">
      <dsp:nvSpPr>
        <dsp:cNvPr id="0" name=""/>
        <dsp:cNvSpPr/>
      </dsp:nvSpPr>
      <dsp:spPr>
        <a:xfrm>
          <a:off x="1616664" y="2431819"/>
          <a:ext cx="2806964" cy="1399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36" tIns="148136" rIns="148136" bIns="1481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Visualizzazione immediata della temperatura e dell’umidità dell'aria, dell’umidità del suolo, dell’esposizione alla luce e del livello del serbatoio.</a:t>
          </a:r>
          <a:endParaRPr lang="en-US" sz="14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616664" y="2431819"/>
        <a:ext cx="2806964" cy="13997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8A8DA-E6B3-44B7-BCF9-740032E19EA4}">
      <dsp:nvSpPr>
        <dsp:cNvPr id="0" name=""/>
        <dsp:cNvSpPr/>
      </dsp:nvSpPr>
      <dsp:spPr>
        <a:xfrm>
          <a:off x="0" y="0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grafici;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diagrammi dedicati ad ogni grandezza fisica misurata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0"/>
        <a:ext cx="4043349" cy="992677"/>
      </dsp:txXfrm>
    </dsp:sp>
    <dsp:sp modelId="{3DE139AE-A735-4405-BBB3-A56ABF7F9E4D}">
      <dsp:nvSpPr>
        <dsp:cNvPr id="0" name=""/>
        <dsp:cNvSpPr/>
      </dsp:nvSpPr>
      <dsp:spPr>
        <a:xfrm>
          <a:off x="99267" y="99267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5000" b="-15000"/>
          </a:stretch>
        </a:blipFill>
        <a:ln w="9525" cap="rnd" cmpd="sng" algn="ctr">
          <a:solidFill>
            <a:schemeClr val="bg1"/>
          </a:solidFill>
          <a:prstDash val="solid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</dsp:sp>
    <dsp:sp modelId="{238F3088-DBE3-4D78-B47D-C210D72A52C4}">
      <dsp:nvSpPr>
        <dsp:cNvPr id="0" name=""/>
        <dsp:cNvSpPr/>
      </dsp:nvSpPr>
      <dsp:spPr>
        <a:xfrm>
          <a:off x="0" y="1091945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Gestire il serbatoio;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prevedere quando bisogna riempire il serbatoio, attivare manualmente la pompa o impostare una soglia d’umidità per l’irrigazione automatica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1091945"/>
        <a:ext cx="4043349" cy="992677"/>
      </dsp:txXfrm>
    </dsp:sp>
    <dsp:sp modelId="{24D61AD3-4618-4A23-90EF-37F94C4F0D3F}">
      <dsp:nvSpPr>
        <dsp:cNvPr id="0" name=""/>
        <dsp:cNvSpPr/>
      </dsp:nvSpPr>
      <dsp:spPr>
        <a:xfrm>
          <a:off x="99267" y="1191213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ABC94D-2B6F-433D-8B97-0156500069BB}">
      <dsp:nvSpPr>
        <dsp:cNvPr id="0" name=""/>
        <dsp:cNvSpPr/>
      </dsp:nvSpPr>
      <dsp:spPr>
        <a:xfrm>
          <a:off x="0" y="2183891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log;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registro per tracciare eventi particolare (attivazione pompa o livello d’acqua nel serbatoio)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2183891"/>
        <a:ext cx="4043349" cy="992677"/>
      </dsp:txXfrm>
    </dsp:sp>
    <dsp:sp modelId="{2854F6A4-3AF4-499F-876F-4225964D6DF8}">
      <dsp:nvSpPr>
        <dsp:cNvPr id="0" name=""/>
        <dsp:cNvSpPr/>
      </dsp:nvSpPr>
      <dsp:spPr>
        <a:xfrm>
          <a:off x="99267" y="2283158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9D8460-3363-4BD9-A81B-7C866D2274F0}">
      <dsp:nvSpPr>
        <dsp:cNvPr id="0" name=""/>
        <dsp:cNvSpPr/>
      </dsp:nvSpPr>
      <dsp:spPr>
        <a:xfrm>
          <a:off x="0" y="3275836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Compensare la scarsa luce naturale (simulazione);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slider per regolare l'intensità dei LED tramite PWM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3275836"/>
        <a:ext cx="4043349" cy="992677"/>
      </dsp:txXfrm>
    </dsp:sp>
    <dsp:sp modelId="{30AFAC39-CB23-4D07-8DCF-8A0D67CF9D09}">
      <dsp:nvSpPr>
        <dsp:cNvPr id="0" name=""/>
        <dsp:cNvSpPr/>
      </dsp:nvSpPr>
      <dsp:spPr>
        <a:xfrm>
          <a:off x="99267" y="3375104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972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4991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8702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2529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083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7040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1859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830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562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605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9378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8979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02238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8145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6678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83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7781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9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2589213" y="2588491"/>
            <a:ext cx="8915399" cy="2262781"/>
          </a:xfrm>
        </p:spPr>
        <p:txBody>
          <a:bodyPr>
            <a:normAutofit/>
          </a:bodyPr>
          <a:lstStyle/>
          <a:p>
            <a:r>
              <a:rPr lang="it-IT" sz="6600" dirty="0">
                <a:latin typeface="Arial Black" panose="020B0A04020102020204" pitchFamily="34" charset="0"/>
              </a:rPr>
              <a:t>Smart Garden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>
                <a:latin typeface="Arial Rounded MT Bold" panose="020F0704030504030204" pitchFamily="34" charset="0"/>
              </a:rPr>
              <a:t>Gruppo 12</a:t>
            </a:r>
          </a:p>
        </p:txBody>
      </p:sp>
    </p:spTree>
    <p:extLst>
      <p:ext uri="{BB962C8B-B14F-4D97-AF65-F5344CB8AC3E}">
        <p14:creationId xmlns:p14="http://schemas.microsoft.com/office/powerpoint/2010/main" val="3575137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020270" y="624111"/>
            <a:ext cx="8911687" cy="1280890"/>
          </a:xfrm>
        </p:spPr>
        <p:txBody>
          <a:bodyPr/>
          <a:lstStyle/>
          <a:p>
            <a:r>
              <a:rPr lang="it-IT" dirty="0">
                <a:latin typeface="Arial Black" panose="020B0A04020102020204" pitchFamily="34" charset="0"/>
              </a:rPr>
              <a:t>SENSORE UMIDITA’ DEL TERRENO </a:t>
            </a:r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29" y="1724026"/>
            <a:ext cx="4198326" cy="2657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ttangolo 2"/>
          <p:cNvSpPr/>
          <p:nvPr/>
        </p:nvSpPr>
        <p:spPr>
          <a:xfrm>
            <a:off x="5431622" y="1565634"/>
            <a:ext cx="6096000" cy="49244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it-IT" sz="2000" dirty="0">
                <a:latin typeface="Calibri" panose="020F0502020204030204" pitchFamily="34" charset="0"/>
              </a:rPr>
              <a:t>Il sensore di umidità del terreno lavora insieme ad un Comparatore di tensione (quello blu).</a:t>
            </a:r>
          </a:p>
          <a:p>
            <a:endParaRPr lang="it-IT" sz="2000" dirty="0">
              <a:latin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sonda a forma di forca, cioè il sensore, viene inserita nel terreno e invia un segnale di resistenza variabile al Comparatore di Tensione il quale lo trasforma in una tensione compresa tra 0V e 3,3V.</a:t>
            </a:r>
          </a:p>
          <a:p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Quindi all'ESP32 arriva un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segnale analogico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 tensione) attraverso il pin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A0.</a:t>
            </a:r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 che l’SP32 usa solo il linguaggio digitale, colleghiamo il pin A0 del Comparatore ad un pin ADC dell‘Espe32.</a:t>
            </a: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L’esp32 leggerà la tensione è la tradurrà in valori compresi tra 0 (massima umidità) e 4095(terreno secco)</a:t>
            </a:r>
          </a:p>
          <a:p>
            <a:endParaRPr lang="it-IT" sz="14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397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30975" y="547910"/>
            <a:ext cx="8911687" cy="1280890"/>
          </a:xfrm>
        </p:spPr>
        <p:txBody>
          <a:bodyPr>
            <a:normAutofit/>
          </a:bodyPr>
          <a:lstStyle/>
          <a:p>
            <a:r>
              <a:rPr lang="it-IT" dirty="0">
                <a:latin typeface="Arial Black" panose="020B0A04020102020204" pitchFamily="34" charset="0"/>
              </a:rPr>
              <a:t>SENSORE DELLA LUMINOSITA’</a:t>
            </a:r>
            <a:br>
              <a:rPr lang="it-IT" dirty="0">
                <a:latin typeface="Arial Black" panose="020B0A04020102020204" pitchFamily="34" charset="0"/>
              </a:rPr>
            </a:br>
            <a:r>
              <a:rPr lang="it-IT" dirty="0">
                <a:latin typeface="Arial Black" panose="020B0A04020102020204" pitchFamily="34" charset="0"/>
              </a:rPr>
              <a:t> 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50" y="1733323"/>
            <a:ext cx="3087314" cy="3503695"/>
          </a:xfrm>
          <a:prstGeom prst="rect">
            <a:avLst/>
          </a:prstGeom>
        </p:spPr>
      </p:pic>
      <p:sp>
        <p:nvSpPr>
          <p:cNvPr id="4" name="Rettangolo 3"/>
          <p:cNvSpPr/>
          <p:nvPr/>
        </p:nvSpPr>
        <p:spPr>
          <a:xfrm>
            <a:off x="5174675" y="1666648"/>
            <a:ext cx="668481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TSL2561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un sensore digitale di luminosità.</a:t>
            </a: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4  pin: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VCC (3.3V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GND, SCL, SDA.</a:t>
            </a:r>
            <a:endParaRPr lang="it-IT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TSL2561 comunica tramite il protocollo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I2C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che richiede due pin fondamentali:</a:t>
            </a:r>
          </a:p>
          <a:p>
            <a:pPr fontAlgn="ctr"/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SCL (Serial Clock):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segnale di clock che sincronizza la trasmissione dei dati.</a:t>
            </a:r>
          </a:p>
          <a:p>
            <a:pPr fontAlgn="ctr"/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SDA (Serial Data):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pin su cui viaggiano fisicamente i dati digitali della luminosità</a:t>
            </a:r>
            <a:r>
              <a:rPr lang="it-IT" sz="2400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70318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01092" y="550219"/>
            <a:ext cx="9721994" cy="1280890"/>
          </a:xfrm>
        </p:spPr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SENSORE AD ULTRASUONI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61" y="1630920"/>
            <a:ext cx="4258269" cy="2543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Rettangolo 3"/>
          <p:cNvSpPr/>
          <p:nvPr/>
        </p:nvSpPr>
        <p:spPr>
          <a:xfrm>
            <a:off x="5305346" y="2007094"/>
            <a:ext cx="5815236" cy="424731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it-IT" b="1" dirty="0">
                <a:solidFill>
                  <a:srgbClr val="373737"/>
                </a:solidFill>
                <a:ea typeface="+mn-lt"/>
                <a:cs typeface="+mn-lt"/>
              </a:rPr>
              <a:t>Il Sensore di distanza ad ultrasuoni HCSR04</a:t>
            </a:r>
            <a:endParaRPr lang="en-US" dirty="0">
              <a:ea typeface="+mn-lt"/>
              <a:cs typeface="+mn-lt"/>
            </a:endParaRPr>
          </a:p>
          <a:p>
            <a:r>
              <a:rPr lang="it-IT" dirty="0">
                <a:solidFill>
                  <a:srgbClr val="373737"/>
                </a:solidFill>
                <a:ea typeface="+mn-lt"/>
                <a:cs typeface="+mn-lt"/>
              </a:rPr>
              <a:t>Ha 4 pin: </a:t>
            </a:r>
            <a:r>
              <a:rPr lang="it-IT" b="1" dirty="0">
                <a:solidFill>
                  <a:srgbClr val="373737"/>
                </a:solidFill>
                <a:ea typeface="+mn-lt"/>
                <a:cs typeface="+mn-lt"/>
              </a:rPr>
              <a:t>VCC(3.3V), TRIG, ECHO, GND</a:t>
            </a:r>
            <a:endParaRPr lang="it-IT" dirty="0">
              <a:ea typeface="+mn-lt"/>
              <a:cs typeface="+mn-lt"/>
            </a:endParaRPr>
          </a:p>
          <a:p>
            <a:endParaRPr lang="it-IT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La comunicazione con questo sensore avviene</a:t>
            </a:r>
            <a:endParaRPr lang="en-US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attraverso un driver. Quando il pin TRIG </a:t>
            </a:r>
            <a:r>
              <a:rPr lang="it-IT" dirty="0" err="1">
                <a:solidFill>
                  <a:srgbClr val="000000"/>
                </a:solidFill>
                <a:latin typeface="Century Gothic"/>
              </a:rPr>
              <a:t>e'</a:t>
            </a:r>
            <a:r>
              <a:rPr lang="it-IT" dirty="0">
                <a:solidFill>
                  <a:srgbClr val="000000"/>
                </a:solidFill>
                <a:latin typeface="Century Gothic"/>
              </a:rPr>
              <a:t> alto, il sensore invia un segnale ad ultrasuoni a 40Hz; quando il segnale rimbalza su un oggetto e colpisce il sensore, il pin ECHO viene messo alto per il tempo di volo del segnale.</a:t>
            </a:r>
            <a:endParaRPr lang="en-US" dirty="0">
              <a:latin typeface="Century Gothic"/>
            </a:endParaRPr>
          </a:p>
          <a:p>
            <a:endParaRPr lang="it-IT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La formula per la conversione in distanza usa la </a:t>
            </a:r>
            <a:r>
              <a:rPr lang="it-IT" dirty="0" err="1">
                <a:solidFill>
                  <a:srgbClr val="000000"/>
                </a:solidFill>
                <a:latin typeface="Century Gothic"/>
              </a:rPr>
              <a:t>velocita'</a:t>
            </a:r>
            <a:r>
              <a:rPr lang="it-IT" dirty="0">
                <a:solidFill>
                  <a:srgbClr val="000000"/>
                </a:solidFill>
                <a:latin typeface="Century Gothic"/>
              </a:rPr>
              <a:t> del suono nell'aria (340 m/s):</a:t>
            </a:r>
            <a:endParaRPr lang="en-US" dirty="0">
              <a:latin typeface="Century Gothic"/>
            </a:endParaRPr>
          </a:p>
          <a:p>
            <a:endParaRPr lang="it-IT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distanza = tempo[s] * 340[m/s] / 2</a:t>
            </a:r>
            <a:br>
              <a:rPr lang="it-IT" dirty="0"/>
            </a:b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0968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5E4FF-A62E-428B-94ED-A8E64DA2A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DD072-933F-C8BC-883D-A207308AD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1092" y="550219"/>
            <a:ext cx="9721994" cy="1280890"/>
          </a:xfrm>
        </p:spPr>
        <p:txBody>
          <a:bodyPr/>
          <a:lstStyle/>
          <a:p>
            <a:pPr algn="ctr"/>
            <a:r>
              <a:rPr lang="it-IT" dirty="0">
                <a:latin typeface="Arial Black"/>
              </a:rPr>
              <a:t>POMPA</a:t>
            </a:r>
            <a:endParaRPr lang="it-IT" dirty="0">
              <a:latin typeface="Arial Black" panose="020B0A04020102020204" pitchFamily="34" charset="0"/>
            </a:endParaRP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B94F5AB-4F05-2D61-E81F-32ABC577AF5D}"/>
              </a:ext>
            </a:extLst>
          </p:cNvPr>
          <p:cNvSpPr/>
          <p:nvPr/>
        </p:nvSpPr>
        <p:spPr>
          <a:xfrm>
            <a:off x="5305346" y="2007094"/>
            <a:ext cx="5815236" cy="3139321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it-IT" b="1" dirty="0">
                <a:solidFill>
                  <a:srgbClr val="373737"/>
                </a:solidFill>
                <a:latin typeface="Helvetica Neue"/>
              </a:rPr>
              <a:t>La pompa ad immersione</a:t>
            </a:r>
            <a:endParaRPr lang="it-IT" dirty="0">
              <a:solidFill>
                <a:srgbClr val="000000"/>
              </a:solidFill>
              <a:latin typeface="Century Gothic" panose="020B0502020202020204"/>
            </a:endParaRP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Viene utilizzata con una fonte di alimentazione esterna e con un </a:t>
            </a:r>
            <a:r>
              <a:rPr lang="it-IT" dirty="0" err="1">
                <a:solidFill>
                  <a:srgbClr val="373737"/>
                </a:solidFill>
                <a:latin typeface="Helvetica Neue"/>
              </a:rPr>
              <a:t>rele'</a:t>
            </a:r>
            <a:endParaRPr lang="it-IT" dirty="0">
              <a:solidFill>
                <a:srgbClr val="373737"/>
              </a:solidFill>
              <a:latin typeface="Helvetica Neue"/>
            </a:endParaRPr>
          </a:p>
          <a:p>
            <a:endParaRPr lang="it-IT" dirty="0">
              <a:solidFill>
                <a:srgbClr val="373737"/>
              </a:solidFill>
              <a:latin typeface="Helvetica Neue"/>
            </a:endParaRP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Il </a:t>
            </a:r>
            <a:r>
              <a:rPr lang="it-IT" dirty="0" err="1">
                <a:solidFill>
                  <a:srgbClr val="373737"/>
                </a:solidFill>
                <a:latin typeface="Helvetica Neue"/>
              </a:rPr>
              <a:t>rele'</a:t>
            </a:r>
            <a:r>
              <a:rPr lang="it-IT" dirty="0">
                <a:solidFill>
                  <a:srgbClr val="373737"/>
                </a:solidFill>
                <a:latin typeface="Helvetica Neue"/>
              </a:rPr>
              <a:t> fornisce tre pin da collegare: VCC, GND e IN.</a:t>
            </a:r>
          </a:p>
          <a:p>
            <a:r>
              <a:rPr lang="it-IT" dirty="0">
                <a:solidFill>
                  <a:srgbClr val="373737"/>
                </a:solidFill>
                <a:latin typeface="Helvetica Neue"/>
                <a:ea typeface="+mn-lt"/>
                <a:cs typeface="+mn-lt"/>
              </a:rPr>
              <a:t>Possiamo attivare la pompa mantenendo alto il pin IN per il tempo richiesto.</a:t>
            </a:r>
            <a:endParaRPr lang="it-IT">
              <a:latin typeface="Helvetica Neue"/>
            </a:endParaRPr>
          </a:p>
          <a:p>
            <a:endParaRPr lang="it-IT" dirty="0">
              <a:solidFill>
                <a:srgbClr val="373737"/>
              </a:solidFill>
              <a:latin typeface="Helvetica Neue"/>
            </a:endParaRP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Per il corretto funzionamento bisogna collegare la porta COM con l'alimentazione della pompa, e la porta NO (</a:t>
            </a:r>
            <a:r>
              <a:rPr lang="it-IT" dirty="0" err="1">
                <a:solidFill>
                  <a:srgbClr val="373737"/>
                </a:solidFill>
                <a:latin typeface="Helvetica Neue"/>
              </a:rPr>
              <a:t>Normally</a:t>
            </a:r>
            <a:r>
              <a:rPr lang="it-IT" dirty="0">
                <a:solidFill>
                  <a:srgbClr val="373737"/>
                </a:solidFill>
                <a:latin typeface="Helvetica Neue"/>
              </a:rPr>
              <a:t> Open) con l'alimentazione esterna.</a:t>
            </a:r>
          </a:p>
        </p:txBody>
      </p:sp>
      <p:pic>
        <p:nvPicPr>
          <p:cNvPr id="5" name="Immagine 4" descr="Mini pompa ad immersione 12 Vdc">
            <a:extLst>
              <a:ext uri="{FF2B5EF4-FFF2-40B4-BE49-F238E27FC236}">
                <a16:creationId xmlns:a16="http://schemas.microsoft.com/office/drawing/2014/main" id="{0C82FFB6-90A7-6666-4E1B-1600FB489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45" y="1394039"/>
            <a:ext cx="2743200" cy="2743200"/>
          </a:xfrm>
          <a:prstGeom prst="rect">
            <a:avLst/>
          </a:prstGeom>
        </p:spPr>
      </p:pic>
      <p:pic>
        <p:nvPicPr>
          <p:cNvPr id="6" name="Immagine 5" descr="Immagine che contiene Componente di circuito, Ingegneria elettronica, Componente elettrico, Componente di circuito passivo&#10;&#10;Il contenuto generato dall&amp;#39;IA potrebbe non essere corretto.">
            <a:extLst>
              <a:ext uri="{FF2B5EF4-FFF2-40B4-BE49-F238E27FC236}">
                <a16:creationId xmlns:a16="http://schemas.microsoft.com/office/drawing/2014/main" id="{332D21D4-4E61-78A2-5376-864446A11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963" y="4416180"/>
            <a:ext cx="2533650" cy="161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447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 descr="Immagine che contiene testo, schermata, Carattere, software&#10;&#10;Il contenuto generato dall'IA potrebbe non essere corret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928" y="2857477"/>
            <a:ext cx="6785145" cy="2559899"/>
          </a:xfrm>
          <a:prstGeom prst="rect">
            <a:avLst/>
          </a:prstGeom>
        </p:spPr>
      </p:pic>
      <p:sp>
        <p:nvSpPr>
          <p:cNvPr id="4" name="CasellaDiTesto 3"/>
          <p:cNvSpPr txBox="1"/>
          <p:nvPr/>
        </p:nvSpPr>
        <p:spPr>
          <a:xfrm>
            <a:off x="988291" y="720436"/>
            <a:ext cx="11069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600" dirty="0">
                <a:latin typeface="Arial Black" panose="020B0A04020102020204" pitchFamily="34" charset="0"/>
              </a:rPr>
              <a:t>DASHBOARD NODERED</a:t>
            </a:r>
            <a:r>
              <a:rPr lang="it-IT" dirty="0">
                <a:latin typeface="Arial Rounded MT Bold" panose="020F0704030504030204" pitchFamily="34" charset="0"/>
              </a:rPr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7946589-557B-E82A-87DE-7D948966BE45}"/>
              </a:ext>
            </a:extLst>
          </p:cNvPr>
          <p:cNvSpPr txBox="1"/>
          <p:nvPr/>
        </p:nvSpPr>
        <p:spPr>
          <a:xfrm>
            <a:off x="8080480" y="2444220"/>
            <a:ext cx="1170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Homepage</a:t>
            </a:r>
          </a:p>
        </p:txBody>
      </p:sp>
      <p:graphicFrame>
        <p:nvGraphicFramePr>
          <p:cNvPr id="19" name="CasellaDiTesto 2">
            <a:extLst>
              <a:ext uri="{FF2B5EF4-FFF2-40B4-BE49-F238E27FC236}">
                <a16:creationId xmlns:a16="http://schemas.microsoft.com/office/drawing/2014/main" id="{8545CBAD-9CAE-E4F0-3B49-F0580CEE8F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60932576"/>
              </p:ext>
            </p:extLst>
          </p:nvPr>
        </p:nvGraphicFramePr>
        <p:xfrm>
          <a:off x="599336" y="1704446"/>
          <a:ext cx="4423629" cy="45243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46764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98D47D-F96A-6A1F-9DE3-CDA0EC78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DASHBOARD NODERED</a:t>
            </a:r>
            <a:r>
              <a:rPr lang="it-IT" dirty="0">
                <a:latin typeface="Arial Rounded MT Bold" panose="020F0704030504030204" pitchFamily="34" charset="0"/>
              </a:rPr>
              <a:t> </a:t>
            </a:r>
          </a:p>
        </p:txBody>
      </p:sp>
      <p:graphicFrame>
        <p:nvGraphicFramePr>
          <p:cNvPr id="17" name="Segnaposto contenuto 2">
            <a:extLst>
              <a:ext uri="{FF2B5EF4-FFF2-40B4-BE49-F238E27FC236}">
                <a16:creationId xmlns:a16="http://schemas.microsoft.com/office/drawing/2014/main" id="{9CD4AF44-FAAD-C5BC-DC3E-89F737A44F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5539721"/>
              </p:ext>
            </p:extLst>
          </p:nvPr>
        </p:nvGraphicFramePr>
        <p:xfrm>
          <a:off x="346833" y="1905000"/>
          <a:ext cx="5178272" cy="42710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Immagine 4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CFE1567-211B-869E-3B24-6F06782C7C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8129"/>
          <a:stretch>
            <a:fillRect/>
          </a:stretch>
        </p:blipFill>
        <p:spPr>
          <a:xfrm>
            <a:off x="5614219" y="1702449"/>
            <a:ext cx="6357408" cy="206723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6080A-C80B-048D-6A4C-EEF45D72EB88}"/>
              </a:ext>
            </a:extLst>
          </p:cNvPr>
          <p:cNvSpPr txBox="1"/>
          <p:nvPr/>
        </p:nvSpPr>
        <p:spPr>
          <a:xfrm>
            <a:off x="7761551" y="1363895"/>
            <a:ext cx="2062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Grafici in tempo reale</a:t>
            </a:r>
          </a:p>
        </p:txBody>
      </p:sp>
      <p:pic>
        <p:nvPicPr>
          <p:cNvPr id="8" name="Immagine 7" descr="Immagine che contiene testo, diagramma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69B4775-9D0F-F198-FD16-28A74D2627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4219" y="4353710"/>
            <a:ext cx="6446519" cy="19513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7B719936-DBD7-DCDE-5B56-CCDAF0F38294}"/>
              </a:ext>
            </a:extLst>
          </p:cNvPr>
          <p:cNvSpPr txBox="1"/>
          <p:nvPr/>
        </p:nvSpPr>
        <p:spPr>
          <a:xfrm>
            <a:off x="7888354" y="4015156"/>
            <a:ext cx="18091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Gestione serbatoio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D567897-D20E-CB8E-CE22-22110C3467BE}"/>
              </a:ext>
            </a:extLst>
          </p:cNvPr>
          <p:cNvSpPr txBox="1"/>
          <p:nvPr/>
        </p:nvSpPr>
        <p:spPr>
          <a:xfrm>
            <a:off x="1209368" y="1504335"/>
            <a:ext cx="29300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Tramite la dashboard è possibile</a:t>
            </a:r>
          </a:p>
        </p:txBody>
      </p:sp>
    </p:spTree>
    <p:extLst>
      <p:ext uri="{BB962C8B-B14F-4D97-AF65-F5344CB8AC3E}">
        <p14:creationId xmlns:p14="http://schemas.microsoft.com/office/powerpoint/2010/main" val="4144213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/>
          <p:cNvSpPr txBox="1"/>
          <p:nvPr/>
        </p:nvSpPr>
        <p:spPr>
          <a:xfrm>
            <a:off x="9077325" y="5730009"/>
            <a:ext cx="32956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Arial Rounded MT Bold" panose="020F0704030504030204" pitchFamily="34" charset="0"/>
              </a:rPr>
              <a:t>Lisena Nicolò Massimo</a:t>
            </a:r>
          </a:p>
          <a:p>
            <a:r>
              <a:rPr lang="it-IT" sz="2000" dirty="0">
                <a:latin typeface="Arial Rounded MT Bold" panose="020F0704030504030204" pitchFamily="34" charset="0"/>
              </a:rPr>
              <a:t>Mancini Sofia </a:t>
            </a:r>
          </a:p>
          <a:p>
            <a:r>
              <a:rPr lang="it-IT" sz="2000" dirty="0">
                <a:latin typeface="Arial Rounded MT Bold" panose="020F0704030504030204" pitchFamily="34" charset="0"/>
              </a:rPr>
              <a:t>Picarella Nicola</a:t>
            </a:r>
          </a:p>
        </p:txBody>
      </p:sp>
      <p:pic>
        <p:nvPicPr>
          <p:cNvPr id="3" name="Immagine 2" descr="Immagine che contiene testo, Carattere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921A01DB-A3BC-3CD1-4DA3-A77BBF199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" t="6828" r="5038" b="9317"/>
          <a:stretch>
            <a:fillRect/>
          </a:stretch>
        </p:blipFill>
        <p:spPr>
          <a:xfrm>
            <a:off x="1922206" y="1526458"/>
            <a:ext cx="8347587" cy="380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08350"/>
      </p:ext>
    </p:extLst>
  </p:cSld>
  <p:clrMapOvr>
    <a:masterClrMapping/>
  </p:clrMapOvr>
</p:sld>
</file>

<file path=ppt/theme/theme1.xml><?xml version="1.0" encoding="utf-8"?>
<a:theme xmlns:a="http://schemas.openxmlformats.org/drawingml/2006/main" name="Filo">
  <a:themeElements>
    <a:clrScheme name="Filo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ilo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ilo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270</TotalTime>
  <Words>357</Words>
  <Application>Microsoft Office PowerPoint</Application>
  <PresentationFormat>Widescreen</PresentationFormat>
  <Paragraphs>36</Paragraphs>
  <Slides>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9" baseType="lpstr">
      <vt:lpstr>Filo</vt:lpstr>
      <vt:lpstr>Smart Garden</vt:lpstr>
      <vt:lpstr>SENSORE UMIDITA’ DEL TERRENO </vt:lpstr>
      <vt:lpstr>SENSORE DELLA LUMINOSITA’  </vt:lpstr>
      <vt:lpstr>SENSORE AD ULTRASUONI</vt:lpstr>
      <vt:lpstr>POMPA</vt:lpstr>
      <vt:lpstr>Presentazione standard di PowerPoint</vt:lpstr>
      <vt:lpstr>DASHBOARD NODERED </vt:lpstr>
      <vt:lpstr>Presentazione standard di PowerPoint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Garden</dc:title>
  <dc:creator>sofia mancini</dc:creator>
  <cp:lastModifiedBy>NICOLO'MASSIMO LISENA</cp:lastModifiedBy>
  <cp:revision>16</cp:revision>
  <dcterms:created xsi:type="dcterms:W3CDTF">2026-01-27T00:10:36Z</dcterms:created>
  <dcterms:modified xsi:type="dcterms:W3CDTF">2026-01-28T11:25:32Z</dcterms:modified>
</cp:coreProperties>
</file>